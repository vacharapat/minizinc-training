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655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216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806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พื้นฐาน MiniZinc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Optimization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สำหรับพนักงานอุตสาหกรรม — ไม่ต้องมีพื้นฐานการเขียนโปรแกรม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01168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ระยะเวลา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ชั่วโมง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3657600"/>
            <a:ext cx="201168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2743200" y="3703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ช่วงเช้า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09:00–12:00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3657600"/>
            <a:ext cx="201168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029200" y="3703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 ช่วงบ่าย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13:00–16:00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กำหนดการวันที่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512064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09:45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07899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Optimization คืออะไร?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0" y="107899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แนวคิด, ตัวอย่างในอุตสาหกรรม, ทำไมต้อง MiniZinc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41348"/>
            <a:ext cx="8412480" cy="51206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641348"/>
            <a:ext cx="64008" cy="512064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02920" y="164134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 – 10:15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64134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ติดตั้งและเริ่มต้น IDE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77840" y="164134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ดาวน์โหลด, ทำความรู้จัก IDE, รัน Hello World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03704"/>
            <a:ext cx="84124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203704"/>
            <a:ext cx="64008" cy="512064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2203704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– 11:00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20370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โมเดลแรก: Map Coloring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577840" y="2203704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Constraints, solve satisfy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66060"/>
            <a:ext cx="8412480" cy="512064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2766060"/>
            <a:ext cx="64008" cy="5120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02920" y="276606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– 12:00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276606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1A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577840" y="276606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ฝึกแก้โจทย์ Map Coloring ด้วยตนเอง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28416"/>
            <a:ext cx="84124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3328416"/>
            <a:ext cx="64008" cy="512064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02920" y="3328416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 – 14:00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3328416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Arithmetic Optimization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77840" y="3328416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maximize/minimize, arithmetic constraints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90772"/>
            <a:ext cx="8412480" cy="51206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365760" y="3890772"/>
            <a:ext cx="64008" cy="512064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02920" y="389077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 – 15:00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389077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Data Files &amp; Parameters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577840" y="389077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.mzn และ .dzn, assert()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453128"/>
            <a:ext cx="8412480" cy="512064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365760" y="4453128"/>
            <a:ext cx="64008" cy="5120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502920" y="445312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 – 16:00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11680" y="445312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1B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577840" y="445312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— โรงงานผลิตสินค้า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คืออะไร?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"การหาคำตอบที่ดีที่สุด ภายใต้เงื่อนไขที่กำหนด"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260604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64008" cy="2286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30352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0352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จัดตารางกะ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หาตารางกะพนักงานที่ครบทุก shift และยุติธรรมที่สุด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212848"/>
            <a:ext cx="260604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3200400" y="2212848"/>
            <a:ext cx="64008" cy="2286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3364992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🚚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64992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จัดเส้นทางรถ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4992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หาเส้นทางส่งสินค้าที่สั้นที่สุดหรือถูกที่สุด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212848"/>
            <a:ext cx="260604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6035040" y="2212848"/>
            <a:ext cx="64008" cy="2286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199632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99632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จัดสินค้าลงกล่อง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9632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ใช้กล่องน้อยที่สุดในการบรรจุสินค้าทั้งหมด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Optimization คืออะไร?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วิธีดั้งเดิม vs. Optimization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77640" cy="34747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77640" cy="45720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วิธีดั้งเดิม (ลองทุกคำตอบ)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พนักงาน 10 คน, 3 กะ → ลองทุกการจัดเรียง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= 3¹⁰ = 59,049 คำตอบ!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ใช้เวลานาน, อาจพลาดคำตอบที่ดีที่สุด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เมื่อขนาดปัญหาใหญ่ขึ้น → เป็นไปไม่ได้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3977640" cy="3474720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800600" y="1097280"/>
            <a:ext cx="3977640" cy="45720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80060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Constraint Programming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6916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บอก solver ว่า 'อยากได้อะไร'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ไม่ต้องบอก 'วิธีหา'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Solver ใช้ algorithm ฉลาด ตัดสาขาที่เป็นไปไม่ได้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474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หาคำตอบที่ดีที่สุด (proved optimal)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Optimization คืออะไร?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MiniZinc คืออะไร?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ภาษาสำหรับ อธิบายปัญหา — ไม่ใช่ภาษาโปรแกรมทั่วไป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69080" cy="12344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64008" cy="12344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Modelling Language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บอกว่า 'ปัญหาคืออะไร' ไม่ใช่ 'แก้อย่างไร'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64008" cy="12344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ต่อกับ Solver ได้หลายตัว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Gecode, OR-Tools, Chuffed, Gurobi, CPLEX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4069080" cy="12344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64008" cy="12344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ใช้ในวิจัยและอุตสาหกรรม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มหาวิทยาลัย, โรงงาน, โลจิสติกส์, การแพทย์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33756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4663440" y="3337560"/>
            <a:ext cx="64008" cy="12344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4846320" y="3429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ฟรีและ Open Source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minizinc.org — ดาวน์โหลดได้เลย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MiniZinc คืออะไร?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 MiniZinc 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9436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51560" y="1097280"/>
            <a:ext cx="772668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0972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ไปที่ minizinc.org → Download → เลือก Windows / macOS / Linux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" y="1691640"/>
            <a:ext cx="182880" cy="320040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59436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051560" y="2011680"/>
            <a:ext cx="7726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143000" y="2011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รันไฟล์ installer → กด Next จนเสร็จ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" y="2606040"/>
            <a:ext cx="182880" cy="320040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59436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51560" y="2926080"/>
            <a:ext cx="772668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1143000" y="2926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MiniZinc IDE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29260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เปิดโปรแกรม → จะเห็น editor, output panel, solver menu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" y="3520440"/>
            <a:ext cx="182880" cy="320040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59436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36576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051560" y="3840480"/>
            <a:ext cx="7726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1143000" y="3840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8404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สร้างไฟล์ใหม่ → พิมพ์ solve satisfy; → กด Run 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https://www.minizinc.org  — ดาวน์โหลด MiniZinc IDE ได้ฟรี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MiniZinc IDE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โครงสร้างพื้นฐานของโมเดล MiniZinc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7498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097280"/>
            <a:ext cx="2560320" cy="7498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2377440" y="10972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ค่าคงที่ที่เรารู้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(กำหนดใน model หรือ .dzn)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3749040" cy="74980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5029200" y="1097280"/>
            <a:ext cx="54864" cy="7498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193792" y="1097280"/>
            <a:ext cx="356616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int: n = 5;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0392" y="1847088"/>
            <a:ext cx="128016" cy="164592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1920240" cy="74980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365760" y="20116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Variables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2011680"/>
            <a:ext cx="2560320" cy="7498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2377440" y="20116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ค่าที่ Solver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ต้องหาให้เรา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011680"/>
            <a:ext cx="3749040" cy="74980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5029200" y="2011680"/>
            <a:ext cx="54864" cy="7498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193792" y="2011680"/>
            <a:ext cx="356616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0..n: x;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" y="2761488"/>
            <a:ext cx="128016" cy="164592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1920240" cy="7498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2926080"/>
            <a:ext cx="2560320" cy="7498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2377440" y="29260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กฎที่ต้องเป็นจริง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2926080"/>
            <a:ext cx="3749040" cy="74980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5029200" y="2926080"/>
            <a:ext cx="54864" cy="7498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193792" y="2926080"/>
            <a:ext cx="356616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x &gt; 0;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" y="3675888"/>
            <a:ext cx="128016" cy="164592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65760" y="3840480"/>
            <a:ext cx="1920240" cy="74980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365760" y="38404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31720" y="3840480"/>
            <a:ext cx="2560320" cy="7498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2377440" y="38404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เป้าหมาย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(satisfy/min/max)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3840480"/>
            <a:ext cx="3749040" cy="74980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4" name="Shape 32"/>
          <p:cNvSpPr/>
          <p:nvPr/>
        </p:nvSpPr>
        <p:spPr>
          <a:xfrm>
            <a:off x="5029200" y="3840480"/>
            <a:ext cx="54864" cy="7498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5193792" y="3840480"/>
            <a:ext cx="356616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satisfy;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โครงสร้างโมเดล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Coloring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ตัวอย่างแรก: ระบายสีแผนที่ออสเตรเลีย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0058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ระบายสีแผนที่ 7 รัฐของออสเตรเลีย โดยรัฐที่มีพรมแดนติดกันต้องมีสีต่างกัน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297680" cy="2560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แผนที่ออสเตรเลีย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4255" y="2812650"/>
            <a:ext cx="1188720" cy="1097280"/>
          </a:xfrm>
          <a:prstGeom prst="rect">
            <a:avLst/>
          </a:prstGeom>
          <a:solidFill>
            <a:srgbClr val="AED9E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744255" y="281265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2628610"/>
            <a:ext cx="914400" cy="658368"/>
          </a:xfrm>
          <a:prstGeom prst="rect">
            <a:avLst/>
          </a:prstGeom>
          <a:solidFill>
            <a:srgbClr val="F4D35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1920240" y="252443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3297549"/>
            <a:ext cx="914400" cy="1142844"/>
          </a:xfrm>
          <a:prstGeom prst="rect">
            <a:avLst/>
          </a:prstGeom>
          <a:solidFill>
            <a:srgbClr val="EE6C4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828800" y="3432122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21905" y="2651760"/>
            <a:ext cx="1188720" cy="868680"/>
          </a:xfrm>
          <a:prstGeom prst="rect">
            <a:avLst/>
          </a:prstGeom>
          <a:solidFill>
            <a:srgbClr val="AED9E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2821905" y="2651760"/>
            <a:ext cx="1188720" cy="1009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44475" y="3529115"/>
            <a:ext cx="1005840" cy="672152"/>
          </a:xfrm>
          <a:prstGeom prst="rect">
            <a:avLst/>
          </a:prstGeom>
          <a:solidFill>
            <a:srgbClr val="F4D35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2821325" y="3529115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5800" y="4202760"/>
            <a:ext cx="822960" cy="457200"/>
          </a:xfrm>
          <a:prstGeom prst="rect">
            <a:avLst/>
          </a:prstGeom>
          <a:solidFill>
            <a:srgbClr val="AED9E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2835800" y="4214335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9735" y="4721729"/>
            <a:ext cx="640080" cy="320040"/>
          </a:xfrm>
          <a:prstGeom prst="rect">
            <a:avLst/>
          </a:prstGeom>
          <a:solidFill>
            <a:srgbClr val="EE6C4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3781155" y="471719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240280"/>
            <a:ext cx="3977640" cy="256032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4937760" y="2331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รัฐที่ติดกัน (ต้องสีต่างกัน):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78892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 ↔ NT, SA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11810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NT ↔ SA, QLD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44728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 ↔ QLD, NSW, VIC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77647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QLD ↔ NSW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10565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NSW ↔ VIC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43484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TAS — (ไม่ติดกับใคร)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Map Coloring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Coloring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โค้ด MiniZinc: aust.mzn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120640" cy="38404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38404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4846320" cy="38404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Parameter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nc =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Decision Variables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wa; 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sa; 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q;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nsw;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v;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Constraints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 !=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 !=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 != sa;  nt != q;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 != q;   sa != nsw;  sa != v;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Solve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23560" y="1234440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623560" y="1234440"/>
            <a:ext cx="54864" cy="59436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715000" y="12344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กำหนดจำนวนสีที่ใช้ได้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1920240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623560" y="1920240"/>
            <a:ext cx="54864" cy="5943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715000" y="19202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แต่ละรัฐคือ 1 ตัวแปร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ค่าคือหมายเลขสี (1-3)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3246120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623560" y="3246120"/>
            <a:ext cx="54864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715000" y="32461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รัฐที่ติดกัน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ต้องสีต่างกัน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4224528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5623560" y="4224528"/>
            <a:ext cx="54864" cy="59436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715000" y="422452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หาคำตอบที่ตรงเงื่อนไข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Map Coloring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vs. Decision Variables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36576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69080" cy="5029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Parameters (ค่าคงที่)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เราเป็นคนกำหนดค่า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ไม่เปลี่ยนระหว่าง solve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597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Solver ไม่แตะต้อง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437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27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ตัวอย่าง: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3840480" cy="868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4864" cy="8686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21792" y="3703320"/>
            <a:ext cx="36576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nc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capacity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78992"/>
            <a:ext cx="4069080" cy="36576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709160" y="1078992"/>
            <a:ext cx="4069080" cy="5029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709160" y="10789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Decision Variables (ตัวแปร)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Solver เป็นคนหาค่า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0756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ต้องกำหนดชนิด (int/bool/float)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4597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ต้องกำหนด domain (ขอบเขต)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8437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227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ตัวอย่าง: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703320"/>
            <a:ext cx="3840480" cy="868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54864" cy="8686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965192" y="3703320"/>
            <a:ext cx="36576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wa;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amount;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Parameters vs. Variables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— กฎที่ต้องเป็นจริง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 &lt;Boolean expression&gt;;    →   ต้องเป็น true เสมอ!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Operators: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4023360" cy="4754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75488" y="21762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หรือ  ==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17627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เท่ากับ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2176272"/>
            <a:ext cx="4023360" cy="47548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727448" y="21762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217627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ไม่เท่ากับ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4023360" cy="4754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75488" y="27432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 และ  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7432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น้อยกว่า/มากกว่า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743200"/>
            <a:ext cx="4023360" cy="47548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727448" y="27432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  และ  &gt;=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7432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น้อยกว่าเท่ากับ/มากกว่าเท่ากับ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364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Operators: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4023360" cy="4754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75488" y="374904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/\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7490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— ต้องเป็นจริงทั้งคู่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749040"/>
            <a:ext cx="4023360" cy="47548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4727448" y="374904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\/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15000" y="37490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เป็นจริงอย่างน้อยหนึ่งอย่าง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15968"/>
            <a:ext cx="4023360" cy="4754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475488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43159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— ต้องเป็นเท็จ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4315968"/>
            <a:ext cx="4023360" cy="47548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4727448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15000" y="43159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IMPLIES — ถ้า A จริง ต้อง B จริง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Constraints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satisfy — และผลลัพธ์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412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64008" cy="84124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satisfy;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หาคำตอบที่ตรงทุก constraint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(ไม่สนว่าดีแค่ไหน)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8412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64008" cy="84124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maximize obj;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หาคำตอบที่ทำให้ obj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มีค่ามากที่สุด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8412480" cy="8412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64008" cy="84124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 obj;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หาคำตอบที่ทำให้ obj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มีค่าน้อยที่สุด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8412480" cy="84124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02920" y="406908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wa=3  nt=2  sa=1  ...   </a:t>
            </a:r>
            <a:r>
              <a:rPr lang="en-US" sz="13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----------   </a:t>
            </a:r>
            <a:r>
              <a:rPr lang="en-US" sz="13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==========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645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คำตอบ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23160" y="46451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 = พบคำตอบ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46451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=== = optimal (min/max)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solve + ผลลัพธ์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1A — Map Coloring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workshop1a_starter.mzn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94360" cy="7498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15453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รันโมเดลที่มีอยู่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874520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workshop1a_starter.mzn → กด Run ▶ → ดูผลลัพธ์ แต่ละรัฐได้สีอะไร?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594360" cy="7498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65760" y="2359152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8992" y="2395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nc =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724912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 nc = 3 → nc = 2 แล้วรันใหม่ → เกิดอะไรขึ้น? ทำไม? (UNSATISFIABLE คืออะไร?)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9544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3209544"/>
            <a:ext cx="594360" cy="7498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365760" y="3209544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78992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เพิ่มรัฐใหม่ 'act'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575304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เพิ่มตัวแปร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 → เพิ่ม constraint act != nsw; และ act != v; → รันและตรวจสอบ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4059936"/>
            <a:ext cx="594360" cy="7498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365760" y="4059936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096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(ท้าทาย) Minimize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425696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 solve satisfy เป็น solve minimize wa+nt+sa+q+nsw+v+t → ผลเปลี่ยนไปไหม?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Workshop 1A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Optimization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Data Files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64008" cy="274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maximize / minimize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13048"/>
            <a:ext cx="64008" cy="274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40080" y="3813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97096"/>
            <a:ext cx="64008" cy="274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40080" y="41970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 (.dzn)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581144"/>
            <a:ext cx="64008" cy="274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40080" y="45811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assert()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Maximize กำไรการอบเค้ก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อบเค้กกล้วย (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กำไร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400 บาท) และเค้กช็อก (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กำไร</a:t>
            </a: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450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บาท) ให้ได้กำไรสูงสุด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ภายใต้ข้อจำกัดวัตถุดิบ: แป้ง, กล้วย, น้ำตาล, เนย, โกโก้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วัตถุดิบที่ต้องการ: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67712"/>
          <a:ext cx="8412480" cy="2560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วัตถุดิบ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เค้กกล้วย (b)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เค้กช็อกโกแลต (c)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ที่มีทั้งหมด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แป้ง 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กล้วย (ลูก)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น้ำตาล 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เนย 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โกโก้ 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กำไร (บาท)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6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6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Arithmetic Optimization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โค้ด MiniZinc: cakes.mzn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212080" cy="36118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64008" cy="36118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4937760" cy="36118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Decision Variables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เค้กกล้วย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เค้กช็อก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Constraints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250*b + 200*c &lt;= 4000;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2*b &lt;= 6;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75*b + 150*c &lt;= 2000;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100*b + 150*c &lt;= 500;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75*c &lt;= 500;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Objective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400*b + 450*c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["b=", show(b), ", c=", show(c)];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15000" y="1508760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715000" y="1508760"/>
            <a:ext cx="54864" cy="59436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806440" y="15087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ตัวแปรเป็น integer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bound ให้ solver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15000" y="2423160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715000" y="2423160"/>
            <a:ext cx="54864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806440" y="2423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แต่ละ constraint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คือ resource ที่จำกัด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15000" y="3559137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715000" y="3559137"/>
            <a:ext cx="54864" cy="59436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806440" y="3559137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objective function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ที่ต้อง maximize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15000" y="4081991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5715000" y="4081991"/>
            <a:ext cx="54864" cy="5943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806440" y="4081991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\(expr) = string interpolation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Arithmetic Optimization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ใน MiniZinc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005840" cy="10515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234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บวก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6459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1005840" cy="10515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663440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0720" y="1234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16459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- 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1005840" cy="10515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2423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คูณ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* 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1005840" cy="10515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663440" y="233172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2423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หารจำนวนเต็ม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div 3  → 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1005840" cy="10515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365760" y="352044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63040" y="36118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เศษการหาร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4023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mod 3  → 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52044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4663440" y="3520440"/>
            <a:ext cx="1005840" cy="105156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4663440" y="352044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abs(x)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760720" y="36118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ค่าสัมบูรณ์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60720" y="4023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abs(-5)  → 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ใน MiniZinc ตัวเลข a/b จะเป็น floating point เสมอ ถ้าต้องการหารจำนวนเต็มให้ใช้ a div 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Arithmetic Operators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Model (.mzn) และ Data (.dzn)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ทำไมต้องแยก? → โมเดลเดิม + ข้อมูลต่างกัน = ผลลัพธ์ต่างกัน — ไม่ต้องแก้โค้ดทุกครั้ง!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cakes_param.mzn  (Model)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4160520" cy="21031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54864" cy="21031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30352" y="2176272"/>
            <a:ext cx="3977640" cy="2103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รับค่าจาก data file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flour;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banana;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250*b &lt;= flour;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017520"/>
            <a:ext cx="320040" cy="182880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553712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pantry.dzn  (Data)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76272"/>
            <a:ext cx="4114800" cy="21031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4663440" y="2176272"/>
            <a:ext cx="54864" cy="21031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828032" y="2176272"/>
            <a:ext cx="3931920" cy="2103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ค่าจริงที่ใช้วันนี้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flour 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banana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sugar 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butter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cocoa 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407408"/>
            <a:ext cx="8412480" cy="53035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02920" y="440740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r>
              <a:rPr lang="en-US" sz="13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minizinc </a:t>
            </a:r>
            <a:r>
              <a:rPr lang="en-US" sz="13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03_cakes_param.mzn  03_pantry.dzn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Data Files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assert() — ตรวจสอบข้อมูลก่อน Solve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assert(condition, error_message)  →  ถ้า condition เป็น false จะ ERROR พร้อมแสดง message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2011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54864" cy="20116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30352" y="1874520"/>
            <a:ext cx="822960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ตรวจสอบว่าข้อมูลสมเหตุสมผลก่อน solve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(flour &gt;=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"แป้งต้องไม่ติดลบ");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(banana &gt;=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"กล้วยต้องไม่ติดลบ");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(capacity &gt;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"ความจุต้องมากกว่า 0");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995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ทำไมต้องใช้ assert?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31596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ป้องกัน garbage-in garbage-out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448056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ช่วย debug ข้อมูลผิดพลาดได้เร็ว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464515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เป็น best practice สำหรับโมเดลที่ใช้กับ data file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80974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Error message ที่ชัดเจนดีกว่า solver ที่ crash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assert()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แสดงผลลัพธ์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9202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192024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8229600" cy="1920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"เค้กกล้วย: ", </a:t>
            </a: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show(b)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"\n",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"กำไรรวม:   ", </a:t>
            </a: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show(400*b + 450*c)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"\n",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"เค้กกล้วย: \(b) ชิ้น\n"</a:t>
            </a: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% string interpolation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090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ฟังก์ชัน Output ที่มีประโยชน์: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419856"/>
            <a:ext cx="841248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02920" y="3419856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show(x)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3419856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แสดงค่าของ x เป็น string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685032"/>
            <a:ext cx="841248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02920" y="3685032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show_int(n, x)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49040" y="3685032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integer ในความกว้าง n ตัวอักษร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950208"/>
            <a:ext cx="841248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show_float(n, d, x)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0" y="3950208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float ความกว้าง n ทศนิยม d ตำแหน่ง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215384"/>
            <a:ext cx="841248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02920" y="4215384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\(expr)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49040" y="4215384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interpolation — ใส่ใน double quotes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841248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02920" y="448056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  \t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49040" y="448056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 และ Tab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Output Statement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1B — Production Planning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workshop1b_starter.mzn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64008" cy="118872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ผลิตภัณฑ์ A: แรงงาน 3 ชม. + วัตถุดิบ 5 กก., กำไร 800 บาท/หน่วย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ผลิตภัณฑ์ B: แรงงาน 5 ชม. + วัตถุดิบ 2 กก., กำไร 1,200 บาท/หน่วย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ข้อจำกัด: แรงงาน 120 ชม./วัน, วัตถุดิบ 150 กก./วัน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384048" cy="3474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Decision Variables: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788920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???: a; และ var ???: b; — bound ควรเป็นเท่าไร?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82112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384048" cy="3474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365760" y="31821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182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Constraints: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182112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</a:t>
            </a:r>
            <a:r>
              <a:rPr lang="en-US" sz="10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สำหรับแรงงาน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th-TH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แรงงานรวมต้องไม่เกิน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120) </a:t>
            </a:r>
            <a:r>
              <a:rPr lang="en-US" sz="10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และวัตถุดิบ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th-TH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วัตถุดิบรวมต้องไม่เกิน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575304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365760" y="3575304"/>
            <a:ext cx="384048" cy="3474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365760" y="357530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5753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Objective: 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68496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365760" y="3968496"/>
            <a:ext cx="384048" cy="3474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365760" y="39684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9684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minimum requirement: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3968496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a &gt;= 5; และ b &gt;= 10; — คำตอบเปลี่ยนไปไหม?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361688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365760" y="4361688"/>
            <a:ext cx="384048" cy="3474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365760" y="436168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3616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Data File: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0" y="436168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ย้ายค่าทั้งหมดไป workshop1b_data.dzn แล้วรัน: minizinc ... model.mzn data.dzn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Workshop 1B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สรุปวันที่ 1 — สิ่งที่ต้องจำ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Parameters vs. Decision Variables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เราระบุ | Variables Solver หาให้ | ใช้ var ก่อนประกาศ variable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1929384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Constraint คือกฎ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ต้องเป็นจริงทุกข้อพร้อมกัน | ถ้าขัดกัน → UNSATISFIABLE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2843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solve satisfy / maximize / minimize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82112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 solver ว่าต้องการอะไร | maximize/minimize ต้องมี objective expression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3630168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6941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 Files (.dzn)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32504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model กับ data ทำให้ reuse ได้ | ใช้ assert() ตรวจสอบข้อมูล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98848"/>
            <a:ext cx="8412480" cy="2011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Arrays, forall, sum — build more flexible models!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สรุป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แหล่งเรียนรู้เพิ่มเติม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321040" cy="804672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docs.minizinc.dev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อย่างเป็นทางการ — อ้างอิงในหลักสูตรนี้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321040" cy="804672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MiniZinc Playground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ทดลองเขียน MiniZinc ออนไลน์ไม่ต้องติดตั้ง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321040" cy="804672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Global Constraints Catalog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รายการ global constraints ทั้งหมดพร้อมตัวอย่าง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321040" cy="804672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MiniZinc Forum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ถามคำถาม, แชร์โมเดล, เรียนรู้จากชุมชน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ไฟล์ประกอบวันที่ 1: day1/ folder — มีตัวอย่างทั้งหมดและ Workshop starter + solution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2394</Words>
  <Application>Microsoft Macintosh PowerPoint</Application>
  <PresentationFormat>On-screen Show (16:9)</PresentationFormat>
  <Paragraphs>441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MiniZinc Day 1 - Basics</dc:title>
  <dc:subject>PptxGenJS Presentation</dc:subject>
  <dc:creator>PptxGenJS</dc:creator>
  <cp:lastModifiedBy>Vacharapat METTANANT</cp:lastModifiedBy>
  <cp:revision>9</cp:revision>
  <dcterms:created xsi:type="dcterms:W3CDTF">2026-06-04T06:27:12Z</dcterms:created>
  <dcterms:modified xsi:type="dcterms:W3CDTF">2026-06-26T02:48:52Z</dcterms:modified>
</cp:coreProperties>
</file>